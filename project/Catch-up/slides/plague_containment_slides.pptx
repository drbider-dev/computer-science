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20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PLAGUE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0" y="2514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CONTAINMENT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Grid-Based Epidemic Strategy Game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286000" y="3931920"/>
            <a:ext cx="4572000" cy="9144"/>
          </a:xfrm>
          <a:prstGeom prst="rect">
            <a:avLst/>
          </a:prstGeom>
          <a:solidFill>
            <a:srgbClr val="5F6368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40690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98DB"/>
                </a:solidFill>
              </a:rPr>
              <a:t>Nelson David Molina  ·  Brayan Estiven Aguirre  ·  Juan Sneyder Méndez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Computer Sciences I  ·  Team 16  ·  Semester 2026-I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F6368"/>
                </a:solidFill>
              </a:rPr>
              <a:t>Universidad Distrital Francisco José de Caldas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stop a plague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limited resources?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0A6"/>
                </a:solidFill>
              </a:rPr>
              <a:t>Epidemic containment is a dual challenge: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LOCAL decisions</a:t>
            </a:r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</a:rPr>
              <a:t> — which district to protect right now?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B59B6"/>
                </a:solidFill>
              </a:rPr>
              <a:t>GLOBAL planning</a:t>
            </a:r>
            <a:pPr indent="0" marL="0">
              <a:buNone/>
            </a:pPr>
            <a:r>
              <a:rPr lang="en-US" sz="1300" dirty="0">
                <a:solidFill>
                  <a:srgbClr val="9AA0A6"/>
                </a:solidFill>
              </a:rPr>
              <a:t> — how to surround the infection without cutting off healthy areas?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game puts the player in charge of both.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737360"/>
            <a:ext cx="2926080" cy="118872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0" y="18745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Vaccination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Protect the most vulnerable district before the plague reaches 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0" y="3154680"/>
            <a:ext cx="2926080" cy="118872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383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32918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</a:rPr>
              <a:t>Quarantine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Surround the infected zone to stop the spread completely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8×8 city under siege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4128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99616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0" name="Text 8"/>
          <p:cNvSpPr/>
          <p:nvPr/>
        </p:nvSpPr>
        <p:spPr>
          <a:xfrm>
            <a:off x="1499616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75104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2" name="Text 10"/>
          <p:cNvSpPr/>
          <p:nvPr/>
        </p:nvSpPr>
        <p:spPr>
          <a:xfrm>
            <a:off x="1975104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4" name="Text 12"/>
          <p:cNvSpPr/>
          <p:nvPr/>
        </p:nvSpPr>
        <p:spPr>
          <a:xfrm>
            <a:off x="2450592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01568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77056" y="146304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20" name="Text 18"/>
          <p:cNvSpPr/>
          <p:nvPr/>
        </p:nvSpPr>
        <p:spPr>
          <a:xfrm>
            <a:off x="3877056" y="146304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24128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99616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26" name="Text 24"/>
          <p:cNvSpPr/>
          <p:nvPr/>
        </p:nvSpPr>
        <p:spPr>
          <a:xfrm>
            <a:off x="1499616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75104" y="1883664"/>
            <a:ext cx="438912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1975104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50592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30" name="Text 28"/>
          <p:cNvSpPr/>
          <p:nvPr/>
        </p:nvSpPr>
        <p:spPr>
          <a:xfrm>
            <a:off x="2450592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01568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34" name="Text 32"/>
          <p:cNvSpPr/>
          <p:nvPr/>
        </p:nvSpPr>
        <p:spPr>
          <a:xfrm>
            <a:off x="3401568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77056" y="188366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36" name="Text 34"/>
          <p:cNvSpPr/>
          <p:nvPr/>
        </p:nvSpPr>
        <p:spPr>
          <a:xfrm>
            <a:off x="3877056" y="188366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230428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24128" y="230428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40" name="Text 38"/>
          <p:cNvSpPr/>
          <p:nvPr/>
        </p:nvSpPr>
        <p:spPr>
          <a:xfrm>
            <a:off x="1024128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499616" y="2304288"/>
            <a:ext cx="438912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1499616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75104" y="2304288"/>
            <a:ext cx="438912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4" name="Text 42"/>
          <p:cNvSpPr/>
          <p:nvPr/>
        </p:nvSpPr>
        <p:spPr>
          <a:xfrm>
            <a:off x="1975104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50592" y="2304288"/>
            <a:ext cx="438912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2450592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26080" y="2304288"/>
            <a:ext cx="438912" cy="384048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48" name="Text 46"/>
          <p:cNvSpPr/>
          <p:nvPr/>
        </p:nvSpPr>
        <p:spPr>
          <a:xfrm>
            <a:off x="2926080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01568" y="230428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50" name="Text 48"/>
          <p:cNvSpPr/>
          <p:nvPr/>
        </p:nvSpPr>
        <p:spPr>
          <a:xfrm>
            <a:off x="3401568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877056" y="230428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52" name="Text 50"/>
          <p:cNvSpPr/>
          <p:nvPr/>
        </p:nvSpPr>
        <p:spPr>
          <a:xfrm>
            <a:off x="3877056" y="230428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2724912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24128" y="2724912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56" name="Text 54"/>
          <p:cNvSpPr/>
          <p:nvPr/>
        </p:nvSpPr>
        <p:spPr>
          <a:xfrm>
            <a:off x="1024128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499616" y="2724912"/>
            <a:ext cx="438912" cy="3840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8" name="Text 56"/>
          <p:cNvSpPr/>
          <p:nvPr/>
        </p:nvSpPr>
        <p:spPr>
          <a:xfrm>
            <a:off x="1499616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975104" y="2724912"/>
            <a:ext cx="438912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0" name="Text 58"/>
          <p:cNvSpPr/>
          <p:nvPr/>
        </p:nvSpPr>
        <p:spPr>
          <a:xfrm>
            <a:off x="1975104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450592" y="2724912"/>
            <a:ext cx="438912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2" name="Text 60"/>
          <p:cNvSpPr/>
          <p:nvPr/>
        </p:nvSpPr>
        <p:spPr>
          <a:xfrm>
            <a:off x="2450592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926080" y="2724912"/>
            <a:ext cx="438912" cy="38404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4" name="Text 62"/>
          <p:cNvSpPr/>
          <p:nvPr/>
        </p:nvSpPr>
        <p:spPr>
          <a:xfrm>
            <a:off x="2926080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401568" y="2724912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66" name="Text 64"/>
          <p:cNvSpPr/>
          <p:nvPr/>
        </p:nvSpPr>
        <p:spPr>
          <a:xfrm>
            <a:off x="3401568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877056" y="2724912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68" name="Text 66"/>
          <p:cNvSpPr/>
          <p:nvPr/>
        </p:nvSpPr>
        <p:spPr>
          <a:xfrm>
            <a:off x="3877056" y="2724912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8640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70" name="Text 68"/>
          <p:cNvSpPr/>
          <p:nvPr/>
        </p:nvSpPr>
        <p:spPr>
          <a:xfrm>
            <a:off x="548640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1024128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72" name="Text 70"/>
          <p:cNvSpPr/>
          <p:nvPr/>
        </p:nvSpPr>
        <p:spPr>
          <a:xfrm>
            <a:off x="1024128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499616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74" name="Text 72"/>
          <p:cNvSpPr/>
          <p:nvPr/>
        </p:nvSpPr>
        <p:spPr>
          <a:xfrm>
            <a:off x="1499616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1975104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76" name="Text 74"/>
          <p:cNvSpPr/>
          <p:nvPr/>
        </p:nvSpPr>
        <p:spPr>
          <a:xfrm>
            <a:off x="1975104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450592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78" name="Text 76"/>
          <p:cNvSpPr/>
          <p:nvPr/>
        </p:nvSpPr>
        <p:spPr>
          <a:xfrm>
            <a:off x="2450592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926080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80" name="Text 78"/>
          <p:cNvSpPr/>
          <p:nvPr/>
        </p:nvSpPr>
        <p:spPr>
          <a:xfrm>
            <a:off x="2926080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401568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82" name="Text 80"/>
          <p:cNvSpPr/>
          <p:nvPr/>
        </p:nvSpPr>
        <p:spPr>
          <a:xfrm>
            <a:off x="3401568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877056" y="3145536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84" name="Text 82"/>
          <p:cNvSpPr/>
          <p:nvPr/>
        </p:nvSpPr>
        <p:spPr>
          <a:xfrm>
            <a:off x="3877056" y="3145536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48640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86" name="Text 84"/>
          <p:cNvSpPr/>
          <p:nvPr/>
        </p:nvSpPr>
        <p:spPr>
          <a:xfrm>
            <a:off x="548640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024128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88" name="Text 86"/>
          <p:cNvSpPr/>
          <p:nvPr/>
        </p:nvSpPr>
        <p:spPr>
          <a:xfrm>
            <a:off x="1024128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499616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90" name="Text 88"/>
          <p:cNvSpPr/>
          <p:nvPr/>
        </p:nvSpPr>
        <p:spPr>
          <a:xfrm>
            <a:off x="1499616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975104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92" name="Text 90"/>
          <p:cNvSpPr/>
          <p:nvPr/>
        </p:nvSpPr>
        <p:spPr>
          <a:xfrm>
            <a:off x="1975104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2450592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94" name="Text 92"/>
          <p:cNvSpPr/>
          <p:nvPr/>
        </p:nvSpPr>
        <p:spPr>
          <a:xfrm>
            <a:off x="2450592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2926080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96" name="Text 94"/>
          <p:cNvSpPr/>
          <p:nvPr/>
        </p:nvSpPr>
        <p:spPr>
          <a:xfrm>
            <a:off x="2926080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401568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98" name="Text 96"/>
          <p:cNvSpPr/>
          <p:nvPr/>
        </p:nvSpPr>
        <p:spPr>
          <a:xfrm>
            <a:off x="3401568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877056" y="3566160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00" name="Text 98"/>
          <p:cNvSpPr/>
          <p:nvPr/>
        </p:nvSpPr>
        <p:spPr>
          <a:xfrm>
            <a:off x="3877056" y="3566160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548640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02" name="Text 100"/>
          <p:cNvSpPr/>
          <p:nvPr/>
        </p:nvSpPr>
        <p:spPr>
          <a:xfrm>
            <a:off x="548640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1024128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24128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499616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06" name="Text 104"/>
          <p:cNvSpPr/>
          <p:nvPr/>
        </p:nvSpPr>
        <p:spPr>
          <a:xfrm>
            <a:off x="1499616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1975104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08" name="Text 106"/>
          <p:cNvSpPr/>
          <p:nvPr/>
        </p:nvSpPr>
        <p:spPr>
          <a:xfrm>
            <a:off x="1975104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2450592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10" name="Text 108"/>
          <p:cNvSpPr/>
          <p:nvPr/>
        </p:nvSpPr>
        <p:spPr>
          <a:xfrm>
            <a:off x="2450592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2926080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12" name="Text 110"/>
          <p:cNvSpPr/>
          <p:nvPr/>
        </p:nvSpPr>
        <p:spPr>
          <a:xfrm>
            <a:off x="2926080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3401568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14" name="Text 112"/>
          <p:cNvSpPr/>
          <p:nvPr/>
        </p:nvSpPr>
        <p:spPr>
          <a:xfrm>
            <a:off x="3401568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3877056" y="3986784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16" name="Text 114"/>
          <p:cNvSpPr/>
          <p:nvPr/>
        </p:nvSpPr>
        <p:spPr>
          <a:xfrm>
            <a:off x="3877056" y="3986784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48640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18" name="Text 116"/>
          <p:cNvSpPr/>
          <p:nvPr/>
        </p:nvSpPr>
        <p:spPr>
          <a:xfrm>
            <a:off x="548640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1024128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20" name="Text 118"/>
          <p:cNvSpPr/>
          <p:nvPr/>
        </p:nvSpPr>
        <p:spPr>
          <a:xfrm>
            <a:off x="1024128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1499616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22" name="Text 120"/>
          <p:cNvSpPr/>
          <p:nvPr/>
        </p:nvSpPr>
        <p:spPr>
          <a:xfrm>
            <a:off x="1499616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1975104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24" name="Text 122"/>
          <p:cNvSpPr/>
          <p:nvPr/>
        </p:nvSpPr>
        <p:spPr>
          <a:xfrm>
            <a:off x="1975104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2450592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26" name="Text 124"/>
          <p:cNvSpPr/>
          <p:nvPr/>
        </p:nvSpPr>
        <p:spPr>
          <a:xfrm>
            <a:off x="2450592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2926080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28" name="Text 126"/>
          <p:cNvSpPr/>
          <p:nvPr/>
        </p:nvSpPr>
        <p:spPr>
          <a:xfrm>
            <a:off x="2926080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3401568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30" name="Text 128"/>
          <p:cNvSpPr/>
          <p:nvPr/>
        </p:nvSpPr>
        <p:spPr>
          <a:xfrm>
            <a:off x="3401568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3877056" y="4407408"/>
            <a:ext cx="438912" cy="384048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32" name="Text 130"/>
          <p:cNvSpPr/>
          <p:nvPr/>
        </p:nvSpPr>
        <p:spPr>
          <a:xfrm>
            <a:off x="3877056" y="4407408"/>
            <a:ext cx="438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48640" y="4892040"/>
            <a:ext cx="137160" cy="137160"/>
          </a:xfrm>
          <a:prstGeom prst="rect">
            <a:avLst/>
          </a:prstGeom>
          <a:solidFill>
            <a:srgbClr val="2A3442"/>
          </a:solidFill>
          <a:ln/>
        </p:spPr>
      </p:sp>
      <p:sp>
        <p:nvSpPr>
          <p:cNvPr id="134" name="Text 132"/>
          <p:cNvSpPr/>
          <p:nvPr/>
        </p:nvSpPr>
        <p:spPr>
          <a:xfrm>
            <a:off x="73152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</a:rPr>
              <a:t>Healthy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1417320" y="4892040"/>
            <a:ext cx="137160" cy="1371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6" name="Text 134"/>
          <p:cNvSpPr/>
          <p:nvPr/>
        </p:nvSpPr>
        <p:spPr>
          <a:xfrm>
            <a:off x="160020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</a:rPr>
              <a:t>Infected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286000" y="4892040"/>
            <a:ext cx="137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8" name="Text 136"/>
          <p:cNvSpPr/>
          <p:nvPr/>
        </p:nvSpPr>
        <p:spPr>
          <a:xfrm>
            <a:off x="246888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</a:rPr>
              <a:t>Vaccinated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3154680" y="4892040"/>
            <a:ext cx="137160" cy="1371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0" name="Text 138"/>
          <p:cNvSpPr/>
          <p:nvPr/>
        </p:nvSpPr>
        <p:spPr>
          <a:xfrm>
            <a:off x="333756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</a:rPr>
              <a:t>Quarantined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4023360" y="4892040"/>
            <a:ext cx="137160" cy="13716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42" name="Text 140"/>
          <p:cNvSpPr/>
          <p:nvPr/>
        </p:nvSpPr>
        <p:spPr>
          <a:xfrm>
            <a:off x="4206240" y="486460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6"/>
                </a:solidFill>
              </a:rPr>
              <a:t>Greedy Tip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5029200" y="1463040"/>
            <a:ext cx="3840480" cy="329184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530352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Rules</a:t>
            </a:r>
            <a:endParaRPr lang="en-US" sz="1800" dirty="0"/>
          </a:p>
        </p:txBody>
      </p:sp>
      <p:sp>
        <p:nvSpPr>
          <p:cNvPr id="145" name="Text 143"/>
          <p:cNvSpPr/>
          <p:nvPr/>
        </p:nvSpPr>
        <p:spPr>
          <a:xfrm>
            <a:off x="5303520" y="20116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city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64 districts on an 8×8 grid, each with a risk level (1-10)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Each turn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The plague spreads to healthy neighbors of infected districts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Player actions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Vaccinate one district (blocks infection permanently)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Apply quarantine plan (isolates the infected zone)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Skip turn (do nothing)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Win condition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Fully contain the plague before all districts are infected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Lose condition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The plague consumes the entire city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algorithms, two strategies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Vaccination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22860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"Always vaccinate the most dangerous district first"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1. Find all healthy districts next to infected 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2. Pick the one with the highest risk 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3. Recommend it to the player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Why it works: </a:t>
            </a:r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The most urgent threat IS the highest-risk neighbor. Local optimality matches the immediate goal.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3931920" cy="45720"/>
          </a:xfrm>
          <a:prstGeom prst="rect">
            <a:avLst/>
          </a:prstGeom>
          <a:solidFill>
            <a:srgbClr val="9B59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916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691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Backtracking Quarantine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83480" y="22860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"Find the perfect containment ring"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1. Identify border districts around infected zone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2. Try quarantining each combination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3. Check: enclosed? + all healthy connected?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4. If not → undo (backtrack) and try another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Why backtracking: </a:t>
            </a:r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A greedy choice could isolate a healthy zone. We need to explore all valid options.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layers, one language-neutral bridge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377440" cy="146304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37744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C++ Engine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Linked List + AVL Tree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Plague spread logic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554480"/>
            <a:ext cx="2377440" cy="146304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554480"/>
            <a:ext cx="2377440" cy="4572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Algorithms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Greedy + Backtracking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Reads state, writes results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309360" y="1554480"/>
            <a:ext cx="2377440" cy="146304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09360" y="1554480"/>
            <a:ext cx="2377440" cy="4572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Pygame Interface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514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Grid render + HUD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</a:rPr>
              <a:t>Player input capture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283464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C40F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576072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C40F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74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C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 Bridge — How they communicate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4023360"/>
            <a:ext cx="2286000" cy="640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069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state.json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C++ writes → Python &amp; Pygame read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46120" y="4023360"/>
            <a:ext cx="2286000" cy="640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2"/>
          <p:cNvSpPr/>
          <p:nvPr/>
        </p:nvSpPr>
        <p:spPr>
          <a:xfrm>
            <a:off x="3383280" y="4069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</a:rPr>
              <a:t>result.json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Python writes → Pygame reads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852160" y="4023360"/>
            <a:ext cx="2286000" cy="640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0" name="Text 24"/>
          <p:cNvSpPr/>
          <p:nvPr/>
        </p:nvSpPr>
        <p:spPr>
          <a:xfrm>
            <a:off x="5989320" y="4069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action.json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Pygame writes → C++ reads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28803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C40F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54864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C40F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81381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4C3C"/>
                </a:solidFill>
              </a:rPr>
              <a:t>↩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engine under the hood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 List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</a:rPr>
              <a:t>Infection Chain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731520" cy="548640"/>
          </a:xfrm>
          <a:prstGeom prst="rect">
            <a:avLst/>
          </a:prstGeom>
          <a:solidFill>
            <a:srgbClr val="2A101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(3,4)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t=1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731520" cy="548640"/>
          </a:xfrm>
          <a:prstGeom prst="rect">
            <a:avLst/>
          </a:prstGeom>
          <a:solidFill>
            <a:srgbClr val="2A1015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(3,5)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4480" y="2670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t=1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40280" y="2468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23160" y="2377440"/>
            <a:ext cx="731520" cy="548640"/>
          </a:xfrm>
          <a:prstGeom prst="rect">
            <a:avLst/>
          </a:prstGeom>
          <a:solidFill>
            <a:srgbClr val="2A1015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(2,4)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2670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t=2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08960" y="2468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2377440"/>
            <a:ext cx="731520" cy="548640"/>
          </a:xfrm>
          <a:prstGeom prst="rect">
            <a:avLst/>
          </a:prstGeom>
          <a:solidFill>
            <a:srgbClr val="2A1015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(4,4)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6700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</a:rPr>
              <a:t>t=3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31089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Each node stores: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Position (row, col) + turn infected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Why linked list?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Infection grows dynamically — we don't know how many districts will be infected. O(1) insertions at tail.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63040"/>
            <a:ext cx="3931920" cy="457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AVL Tree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83480" y="1965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</a:rPr>
              <a:t>District Risk Index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46520" y="2331720"/>
            <a:ext cx="502920" cy="41148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3317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2926080"/>
            <a:ext cx="457200" cy="36576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32" name="Text 30"/>
          <p:cNvSpPr/>
          <p:nvPr/>
        </p:nvSpPr>
        <p:spPr>
          <a:xfrm>
            <a:off x="571500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2926080"/>
            <a:ext cx="457200" cy="36576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49240" y="3474720"/>
            <a:ext cx="365760" cy="32004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0760" y="3474720"/>
            <a:ext cx="365760" cy="32004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03720" y="3474720"/>
            <a:ext cx="365760" cy="32004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43800" y="3474720"/>
            <a:ext cx="365760" cy="320040"/>
          </a:xfrm>
          <a:prstGeom prst="ellipse">
            <a:avLst/>
          </a:prstGeom>
          <a:solidFill>
            <a:srgbClr val="1A1030"/>
          </a:solidFill>
          <a:ln/>
        </p:spPr>
      </p:sp>
      <p:sp>
        <p:nvSpPr>
          <p:cNvPr id="42" name="Text 40"/>
          <p:cNvSpPr/>
          <p:nvPr/>
        </p:nvSpPr>
        <p:spPr>
          <a:xfrm>
            <a:off x="7543800" y="3474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59B6"/>
                </a:solidFill>
              </a:rPr>
              <a:t>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886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Sorted by risk 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Find highest-risk district in O(log 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Why AVL over BST?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AA0A6"/>
                </a:solidFill>
              </a:rPr>
              <a:t>Self-balancing guarantees O(log n) even with sorted insertions. A normal BST could degrade to O(n).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design to a playable game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73736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Engine Developer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Nelson David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Molina Ramos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C++ data structures: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Linked List + AVL Tree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606040" cy="173736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63040"/>
            <a:ext cx="2606040" cy="4572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98DB"/>
                </a:solidFill>
              </a:rPr>
              <a:t>Algorithm Developer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3756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Brayan Estiven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Aguirre Aristizabal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33756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Python algorithms: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Greedy + Backtracking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2606040" cy="173736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463040"/>
            <a:ext cx="2606040" cy="45720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45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574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UI &amp; Integration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17920" y="2286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Juan Sneyder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Méndez Gil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1792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Pygame interface,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0A6"/>
                </a:solidFill>
              </a:rPr>
              <a:t>JSON bridge, architecture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A202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1188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8580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9-12: </a:t>
            </a:r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</a:rPr>
              <a:t>Implement C++ engine (linked list, AVL tree, plague spread)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10-14: </a:t>
            </a:r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</a:rPr>
              <a:t>Build Python algorithms (greedy + backtracking) and test with mock JSON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12-15: </a:t>
            </a:r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</a:rPr>
              <a:t>Develop Pygame interface, integrate all components via JSON bridge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</a:rPr>
              <a:t>Week 16: </a:t>
            </a:r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</a:rPr>
              <a:t>Final demo, polished game, technical report, GitHub repo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Plague Containment - Game Pitch</dc:title>
  <dc:subject>PptxGenJS Presentation</dc:subject>
  <dc:creator>Team 16</dc:creator>
  <cp:lastModifiedBy>Team 16</cp:lastModifiedBy>
  <cp:revision>1</cp:revision>
  <dcterms:created xsi:type="dcterms:W3CDTF">2026-03-27T01:35:07Z</dcterms:created>
  <dcterms:modified xsi:type="dcterms:W3CDTF">2026-03-27T01:35:07Z</dcterms:modified>
</cp:coreProperties>
</file>